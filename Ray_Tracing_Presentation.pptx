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58" r:id="rId8"/>
    <p:sldId id="267" r:id="rId9"/>
    <p:sldId id="264" r:id="rId10"/>
    <p:sldId id="265" r:id="rId11"/>
    <p:sldId id="263" r:id="rId12"/>
    <p:sldId id="266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4-Point Star 2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4-Point Star 3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4-Point Star 6"/>
          <p:cNvSpPr/>
          <p:nvPr/>
        </p:nvSpPr>
        <p:spPr>
          <a:xfrm>
            <a:off x="548640" y="4480560"/>
            <a:ext cx="146304" cy="146304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50">
                <a:solidFill>
                  <a:srgbClr val="0A8A00"/>
                </a:solidFill>
                <a:latin typeface="Calibri"/>
              </a:rPr>
              <a:t>JAVA  ·  SWING  ·  COMPUTER 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0B1B3A"/>
                </a:solidFill>
                <a:latin typeface="Calibri"/>
              </a:rPr>
              <a:t>Interactive Ray Tracing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0B1B3A"/>
                </a:solidFill>
                <a:latin typeface="Calibri"/>
              </a:rPr>
              <a:t>A Java renderer that simulates light — reflection, refraction and shadows — across spheres, cubes and pyramids, exported as photorealistic PNG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61188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FFDF6"/>
          </a:solidFill>
          <a:ln w="15875">
            <a:solidFill>
              <a:srgbClr val="00A8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36118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7A7468"/>
                </a:solidFill>
                <a:latin typeface="Calibri"/>
              </a:rPr>
              <a:t>Course Project · Computer 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1752"/>
            <a:ext cx="701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B1B3A"/>
                </a:solidFill>
                <a:latin typeface="Calibri"/>
              </a:rPr>
              <a:t>Introduction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4-Point Star 4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7A7468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50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0B1B3A"/>
                </a:solidFill>
                <a:latin typeface="Calibri"/>
              </a:rPr>
              <a:t>A ray tracing engine simulates the physical behavior of light: rays are cast from a virtual camera through every pixel and traced through a 3D scene to calculate realistic reflections, refractions and shadows. This project implements an interactive ray tracer in pure Java that renders multiple primitives in real time and exports the result as a PNG.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5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0A8A00"/>
                </a:solidFill>
                <a:latin typeface="Calibri"/>
              </a:rPr>
              <a:t>HOW IT 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920240" cy="1737360"/>
          </a:xfrm>
          <a:prstGeom prst="roundRect">
            <a:avLst>
              <a:gd name="adj" fmla="val 57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" y="2697480"/>
            <a:ext cx="365760" cy="365760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A8A00"/>
                </a:solidFill>
                <a:latin typeface="Calibri"/>
              </a:rPr>
              <a:t>Ray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9250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80" b="0" i="0">
                <a:solidFill>
                  <a:srgbClr val="0B1B3A"/>
                </a:solidFill>
                <a:latin typeface="Calibri"/>
              </a:rPr>
              <a:t>A ray is cast from the camera through every screen pixel using perspective projection.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2560320"/>
            <a:ext cx="1920240" cy="1737360"/>
          </a:xfrm>
          <a:prstGeom prst="roundRect">
            <a:avLst>
              <a:gd name="adj" fmla="val 57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97480" y="2697480"/>
            <a:ext cx="365760" cy="3657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1546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06FB3"/>
                </a:solidFill>
                <a:latin typeface="Calibri"/>
              </a:rPr>
              <a:t>Intersection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49250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80" b="0" i="0">
                <a:solidFill>
                  <a:srgbClr val="0B1B3A"/>
                </a:solidFill>
                <a:latin typeface="Calibri"/>
              </a:rPr>
              <a:t>Each ray is tested against every sphere, cube, pyramid and the floor to find the closest hit.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560320"/>
            <a:ext cx="1920240" cy="1737360"/>
          </a:xfrm>
          <a:prstGeom prst="roundRect">
            <a:avLst>
              <a:gd name="adj" fmla="val 57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00600" y="2697480"/>
            <a:ext cx="365760" cy="365760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1546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A8A00"/>
                </a:solidFill>
                <a:latin typeface="Calibri"/>
              </a:rPr>
              <a:t>Shading &amp; Shadows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49250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80" b="0" i="0">
                <a:solidFill>
                  <a:srgbClr val="0B1B3A"/>
                </a:solidFill>
                <a:latin typeface="Calibri"/>
              </a:rPr>
              <a:t>Lambertian lighting plus a shadow ray decide how lit or shadowed the hit point 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560320"/>
            <a:ext cx="1920240" cy="1737360"/>
          </a:xfrm>
          <a:prstGeom prst="roundRect">
            <a:avLst>
              <a:gd name="adj" fmla="val 57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903720" y="2697480"/>
            <a:ext cx="365760" cy="3657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1546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06FB3"/>
                </a:solidFill>
                <a:latin typeface="Calibri"/>
              </a:rPr>
              <a:t>Reflect &amp; Refract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92500"/>
            <a:ext cx="16459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80" b="0" i="0">
                <a:solidFill>
                  <a:srgbClr val="0B1B3A"/>
                </a:solidFill>
                <a:latin typeface="Calibri"/>
              </a:rPr>
              <a:t>Recursive rays add mirror reflection and Snell's-law refraction, up to 4 bounces deep.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1752"/>
            <a:ext cx="701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B1B3A"/>
                </a:solidFill>
                <a:latin typeface="Calibri"/>
              </a:rPr>
              <a:t>Ray Tracing: Before vs. After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4-Point Star 4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7A7468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3931920" cy="347472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43264fec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66" y="1095840"/>
            <a:ext cx="3145787" cy="295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7200" y="4080560"/>
            <a:ext cx="369192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A8A00"/>
                </a:solidFill>
                <a:latin typeface="Calibri"/>
              </a:rPr>
              <a:t>Cyberpunk 2077 — lighting, shadows &amp; reflections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005840"/>
            <a:ext cx="3931920" cy="347472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682df23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880" y="1518941"/>
            <a:ext cx="3751920" cy="21085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74880" y="4080560"/>
            <a:ext cx="369192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6FB3"/>
                </a:solidFill>
                <a:latin typeface="Calibri"/>
              </a:rPr>
              <a:t>Real-time ray-traced reflections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1752"/>
            <a:ext cx="701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B1B3A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4-Point Star 4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7A746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3931920" cy="347472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291c852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00" y="1561915"/>
            <a:ext cx="3731920" cy="24540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006FB3"/>
                </a:solidFill>
                <a:latin typeface="Calibri"/>
              </a:rPr>
              <a:t>RENDER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420920"/>
            <a:ext cx="402336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B1B3A"/>
                </a:solidFill>
                <a:latin typeface="Calibri"/>
              </a:rPr>
              <a:t>Camera rays.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80920"/>
            <a:ext cx="402336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0B1B3A"/>
                </a:solidFill>
                <a:latin typeface="Calibri"/>
              </a:rPr>
              <a:t>Each pixel's ray is built from the camera basis (forward × world-up) and the pixel's normalized screen coordinates.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20920"/>
            <a:ext cx="402336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B1B3A"/>
                </a:solidFill>
                <a:latin typeface="Calibri"/>
              </a:rPr>
              <a:t>Primitive intersection.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80920"/>
            <a:ext cx="402336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0B1B3A"/>
                </a:solidFill>
                <a:latin typeface="Calibri"/>
              </a:rPr>
              <a:t>Sphere → quadratic formula. Cube → slab (min/max) method. Pyramid → Möller–Trumbore ray-triangle test on 6 faces. Plane → algebraic ray-plane solve.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20920"/>
            <a:ext cx="402336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B1B3A"/>
                </a:solidFill>
                <a:latin typeface="Calibri"/>
              </a:rPr>
              <a:t>Local shading.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80920"/>
            <a:ext cx="402336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0B1B3A"/>
                </a:solidFill>
                <a:latin typeface="Calibri"/>
              </a:rPr>
              <a:t>A shadow ray toward the light decides occlusion; Lambertian diffuse = max(0, N·L) scales the surface color.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20920"/>
            <a:ext cx="402336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B1B3A"/>
                </a:solidFill>
                <a:latin typeface="Calibri"/>
              </a:rPr>
              <a:t>Recursive bounces.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80920"/>
            <a:ext cx="402336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0B1B3A"/>
                </a:solidFill>
                <a:latin typeface="Calibri"/>
              </a:rPr>
              <a:t>Mirror reflection (R = D − 2(D·N)N) and Snell's-law refraction (with total-internal-reflection fallback) recurse up to MAX_DEPTH = 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220920"/>
            <a:ext cx="402336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B1B3A"/>
                </a:solidFill>
                <a:latin typeface="Calibri"/>
              </a:rPr>
              <a:t>Parallel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480920"/>
            <a:ext cx="402336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0B1B3A"/>
                </a:solidFill>
                <a:latin typeface="Calibri"/>
              </a:rPr>
              <a:t>Pixel rows render concurrently with Java's IntStream.parallel(), using every CPU 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1752"/>
            <a:ext cx="701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B1B3A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4-Point Star 4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7A746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500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006FB3"/>
                </a:solidFill>
                <a:latin typeface="Calibri"/>
              </a:rPr>
              <a:t>CLASS DESIGN (OBJECT-ORIENTED JAVA)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1230000"/>
            <a:ext cx="1920240" cy="520000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0200" y="1290000"/>
            <a:ext cx="192024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A8A00"/>
                </a:solidFill>
                <a:latin typeface="Calibri"/>
              </a:rPr>
              <a:t>Vector3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0200" y="1490000"/>
            <a:ext cx="180024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0B1B3A"/>
                </a:solidFill>
                <a:latin typeface="Calibri"/>
              </a:rPr>
              <a:t>x, y, z + add / sub / dot / cross / normalize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230000"/>
            <a:ext cx="1920240" cy="520000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60" y="1290000"/>
            <a:ext cx="192024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A8A00"/>
                </a:solidFill>
                <a:latin typeface="Calibri"/>
              </a:rPr>
              <a:t>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3560" y="1490000"/>
            <a:ext cx="180024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0B1B3A"/>
                </a:solidFill>
                <a:latin typeface="Calibri"/>
              </a:rPr>
              <a:t>origin + normalized direction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1980000"/>
            <a:ext cx="4023360" cy="520000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2040000"/>
            <a:ext cx="402336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6FB3"/>
                </a:solidFill>
                <a:latin typeface="Calibri"/>
              </a:rPr>
              <a:t>SceneObject  (abstract)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0320" y="2240000"/>
            <a:ext cx="390336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0B1B3A"/>
                </a:solidFill>
                <a:latin typeface="Calibri"/>
              </a:rPr>
              <a:t>center · color · reflectivity · transparency · 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30000"/>
            <a:ext cx="1920240" cy="640000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790000"/>
            <a:ext cx="192024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A8A00"/>
                </a:solidFill>
                <a:latin typeface="Calibri"/>
              </a:rPr>
              <a:t>Sphere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200" y="3110000"/>
            <a:ext cx="180024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0B1B3A"/>
                </a:solidFill>
                <a:latin typeface="Calibri"/>
              </a:rPr>
              <a:t>Quadratic ray–sphere hit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2730000"/>
            <a:ext cx="1920240" cy="640000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2790000"/>
            <a:ext cx="192024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6FB3"/>
                </a:solidFill>
                <a:latin typeface="Calibri"/>
              </a:rPr>
              <a:t>Cube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0320" y="3110000"/>
            <a:ext cx="180024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0B1B3A"/>
                </a:solidFill>
                <a:latin typeface="Calibri"/>
              </a:rPr>
              <a:t>Slab (min / max) method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2730000"/>
            <a:ext cx="1920240" cy="640000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2790000"/>
            <a:ext cx="192024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A8A00"/>
                </a:solidFill>
                <a:latin typeface="Calibri"/>
              </a:rPr>
              <a:t>Pyramid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3440" y="3110000"/>
            <a:ext cx="180024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0B1B3A"/>
                </a:solidFill>
                <a:latin typeface="Calibri"/>
              </a:rPr>
              <a:t>6-face Möller–Trumbore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2730000"/>
            <a:ext cx="1920240" cy="640000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2790000"/>
            <a:ext cx="192024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6FB3"/>
                </a:solidFill>
                <a:latin typeface="Calibri"/>
              </a:rPr>
              <a:t>Plane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6560" y="3110000"/>
            <a:ext cx="180024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30" b="0" i="0">
                <a:solidFill>
                  <a:srgbClr val="0B1B3A"/>
                </a:solidFill>
                <a:latin typeface="Calibri"/>
              </a:rPr>
              <a:t>Checkerboard floor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660000"/>
            <a:ext cx="7315200" cy="820000"/>
          </a:xfrm>
          <a:prstGeom prst="roundRect">
            <a:avLst>
              <a:gd name="adj" fmla="val 8000"/>
            </a:avLst>
          </a:prstGeom>
          <a:solidFill>
            <a:srgbClr val="FFFDF6"/>
          </a:solidFill>
          <a:ln w="15875">
            <a:solidFill>
              <a:srgbClr val="0B1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730000"/>
            <a:ext cx="73152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0B1B3A"/>
                </a:solidFill>
                <a:latin typeface="Calibri"/>
              </a:rPr>
              <a:t>Scene.closestHit()  +  trace()  — the recursive rendering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4400" y="4060000"/>
            <a:ext cx="7075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7A7468"/>
                </a:solidFill>
                <a:latin typeface="Calibri"/>
              </a:rPr>
              <a:t>Finds the nearest hit · casts a shadow ray · recurses for mirror reflection and Snell's-law refraction, up to MAX_DEPTH = 4 bounces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60320" y="1750000"/>
            <a:ext cx="1126540" cy="23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457139" y="1750000"/>
            <a:ext cx="1126541" cy="23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417320" y="2500000"/>
            <a:ext cx="3154680" cy="23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17320" y="3370000"/>
            <a:ext cx="594360" cy="29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520440" y="2500000"/>
            <a:ext cx="1051560" cy="23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20440" y="3370000"/>
            <a:ext cx="173736" cy="29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2500000"/>
            <a:ext cx="1051560" cy="23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5376672" y="3370000"/>
            <a:ext cx="246888" cy="29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72000" y="2500000"/>
            <a:ext cx="3154680" cy="23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7059168" y="3370000"/>
            <a:ext cx="667512" cy="290000"/>
          </a:xfrm>
          <a:prstGeom prst="line">
            <a:avLst/>
          </a:prstGeom>
          <a:ln w="12700">
            <a:solidFill>
              <a:srgbClr val="7A7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1752"/>
            <a:ext cx="701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B1B3A"/>
                </a:solidFill>
                <a:latin typeface="Calibri"/>
              </a:rPr>
              <a:t>Key Features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4-Point Star 4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7A7468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50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0B1B3A"/>
                </a:solidFill>
                <a:latin typeface="Calibri"/>
              </a:rPr>
              <a:t>Beyond a static renderer, the project ships as an interactive Swing "studio": scenes are built, lit and explored live, with every frame re-traced in real time as you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0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006FB3"/>
                </a:solidFill>
                <a:latin typeface="Calibri"/>
              </a:rPr>
              <a:t>INTERACTIVE TOOLING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0000"/>
            <a:ext cx="1920240" cy="1930000"/>
          </a:xfrm>
          <a:prstGeom prst="roundRect">
            <a:avLst>
              <a:gd name="adj" fmla="val 57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" y="2507160"/>
            <a:ext cx="365760" cy="365760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64360"/>
            <a:ext cx="164592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30" b="1" i="0">
                <a:solidFill>
                  <a:srgbClr val="0A8A00"/>
                </a:solidFill>
                <a:latin typeface="Calibri"/>
              </a:rPr>
              <a:t>Drag, Drop &amp; 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50000"/>
            <a:ext cx="164592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0" b="0" i="0">
                <a:solidFill>
                  <a:srgbClr val="0B1B3A"/>
                </a:solidFill>
                <a:latin typeface="Calibri"/>
              </a:rPr>
              <a:t>Spawn spheres, cubes or pyramids from the palette; drag any object in 3D and tweak its color and transparency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2370000"/>
            <a:ext cx="1920240" cy="1930000"/>
          </a:xfrm>
          <a:prstGeom prst="roundRect">
            <a:avLst>
              <a:gd name="adj" fmla="val 57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97480" y="2507160"/>
            <a:ext cx="365760" cy="3657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4360"/>
            <a:ext cx="164592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30" b="1" i="0">
                <a:solidFill>
                  <a:srgbClr val="006FB3"/>
                </a:solidFill>
                <a:latin typeface="Calibri"/>
              </a:rPr>
              <a:t>360° Orbit 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450000"/>
            <a:ext cx="164592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0" b="0" i="0">
                <a:solidFill>
                  <a:srgbClr val="0B1B3A"/>
                </a:solidFill>
                <a:latin typeface="Calibri"/>
              </a:rPr>
              <a:t>Hold middle-click (or Alt+drag) to orbit the camera in full spherical coordinates, CAD-style, around the scene.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370000"/>
            <a:ext cx="1920240" cy="1930000"/>
          </a:xfrm>
          <a:prstGeom prst="roundRect">
            <a:avLst>
              <a:gd name="adj" fmla="val 57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00600" y="2507160"/>
            <a:ext cx="365760" cy="365760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964360"/>
            <a:ext cx="164592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30" b="1" i="0">
                <a:solidFill>
                  <a:srgbClr val="0A8A00"/>
                </a:solidFill>
                <a:latin typeface="Calibri"/>
              </a:rPr>
              <a:t>Ray-Path Demo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450000"/>
            <a:ext cx="164592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0" b="0" i="0">
                <a:solidFill>
                  <a:srgbClr val="0B1B3A"/>
                </a:solidFill>
                <a:latin typeface="Calibri"/>
              </a:rPr>
              <a:t>Visualizes 8 real camera rays bouncing off a solid sphere and refracting through a glass sphere, overlaid in 3D.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370000"/>
            <a:ext cx="1920240" cy="1930000"/>
          </a:xfrm>
          <a:prstGeom prst="roundRect">
            <a:avLst>
              <a:gd name="adj" fmla="val 57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903720" y="2507160"/>
            <a:ext cx="365760" cy="3657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964360"/>
            <a:ext cx="164592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30" b="1" i="0">
                <a:solidFill>
                  <a:srgbClr val="006FB3"/>
                </a:solidFill>
                <a:latin typeface="Calibri"/>
              </a:rPr>
              <a:t>Multithreaded Rendering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50000"/>
            <a:ext cx="164592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0" b="0" i="0">
                <a:solidFill>
                  <a:srgbClr val="0B1B3A"/>
                </a:solidFill>
                <a:latin typeface="Calibri"/>
              </a:rPr>
              <a:t>Pixel rows render in parallel across every CPU core, with adaptive resolution while dragging for a smooth live preview.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1752"/>
            <a:ext cx="701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B1B3A"/>
                </a:solidFill>
                <a:latin typeface="Calibri"/>
              </a:rPr>
              <a:t>Real-World Applications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4-Point Star 4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7A746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500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0A8A00"/>
                </a:solidFill>
                <a:latin typeface="Calibri"/>
              </a:rPr>
              <a:t>WHERE RAY TRACING IS USED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50000"/>
            <a:ext cx="3977640" cy="1500000"/>
          </a:xfrm>
          <a:prstGeom prst="roundRect">
            <a:avLst>
              <a:gd name="adj" fmla="val 45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21200" y="1400000"/>
            <a:ext cx="320000" cy="320000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200" y="1400000"/>
            <a:ext cx="3219640" cy="3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A8A00"/>
                </a:solidFill>
                <a:latin typeface="Calibri"/>
              </a:rPr>
              <a:t>Gaming &amp; Real-Time 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00" y="1830000"/>
            <a:ext cx="361764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0B1B3A"/>
                </a:solidFill>
                <a:latin typeface="Calibri"/>
              </a:rPr>
              <a:t>Hardware ray tracing now reaches mainstream PC gaming.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200" y="2190000"/>
            <a:ext cx="3617640" cy="420000"/>
          </a:xfrm>
          <a:prstGeom prst="roundRect">
            <a:avLst>
              <a:gd name="adj" fmla="val 18000"/>
            </a:avLst>
          </a:prstGeom>
          <a:solidFill>
            <a:srgbClr val="FFFDF6"/>
          </a:solidFill>
          <a:ln w="15875">
            <a:solidFill>
              <a:srgbClr val="22D1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200" y="2190000"/>
            <a:ext cx="345764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7A7468"/>
                </a:solidFill>
                <a:latin typeface="Calibri"/>
              </a:rPr>
              <a:t>138 games + 72 apps support RT; 83% of RTX 40-series owners enable it.  — NVIDIA / Tom's Hardware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250000"/>
            <a:ext cx="3977640" cy="1500000"/>
          </a:xfrm>
          <a:prstGeom prst="roundRect">
            <a:avLst>
              <a:gd name="adj" fmla="val 45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73160" y="1400000"/>
            <a:ext cx="320000" cy="3200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160" y="1400000"/>
            <a:ext cx="3219640" cy="3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06FB3"/>
                </a:solidFill>
                <a:latin typeface="Calibri"/>
              </a:rPr>
              <a:t>Film &amp; Animation (VFX)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9160" y="1830000"/>
            <a:ext cx="361764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0B1B3A"/>
                </a:solidFill>
                <a:latin typeface="Calibri"/>
              </a:rPr>
              <a:t>Path-traced global illumination is standard in feature animation.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89160" y="2190000"/>
            <a:ext cx="3617640" cy="420000"/>
          </a:xfrm>
          <a:prstGeom prst="roundRect">
            <a:avLst>
              <a:gd name="adj" fmla="val 18000"/>
            </a:avLst>
          </a:prstGeom>
          <a:solidFill>
            <a:srgbClr val="FFFDF6"/>
          </a:solidFill>
          <a:ln w="15875">
            <a:solidFill>
              <a:srgbClr val="00A8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69160" y="2190000"/>
            <a:ext cx="345764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7A7468"/>
                </a:solidFill>
                <a:latin typeface="Calibri"/>
              </a:rPr>
              <a:t>Pixar's RenderMan moved to full path tracing (RIS) in 2014; Coco (2017) used 8M+ light sources.  — VFX Voice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00000"/>
            <a:ext cx="3977640" cy="1500000"/>
          </a:xfrm>
          <a:prstGeom prst="roundRect">
            <a:avLst>
              <a:gd name="adj" fmla="val 4500"/>
            </a:avLst>
          </a:prstGeom>
          <a:solidFill>
            <a:srgbClr val="FFFDF6"/>
          </a:solidFill>
          <a:ln w="15875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21200" y="3050000"/>
            <a:ext cx="320000" cy="320000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200" y="3050000"/>
            <a:ext cx="3219640" cy="3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A8A00"/>
                </a:solidFill>
                <a:latin typeface="Calibri"/>
              </a:rPr>
              <a:t>Architecture &amp; Product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00" y="3480000"/>
            <a:ext cx="361764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0B1B3A"/>
                </a:solidFill>
                <a:latin typeface="Calibri"/>
              </a:rPr>
              <a:t>Photorealistic previews before anything is physically built.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7200" y="3840000"/>
            <a:ext cx="3617640" cy="420000"/>
          </a:xfrm>
          <a:prstGeom prst="roundRect">
            <a:avLst>
              <a:gd name="adj" fmla="val 18000"/>
            </a:avLst>
          </a:prstGeom>
          <a:solidFill>
            <a:srgbClr val="FFFDF6"/>
          </a:solidFill>
          <a:ln w="15875">
            <a:solidFill>
              <a:srgbClr val="22D1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7200" y="3840000"/>
            <a:ext cx="345764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7A7468"/>
                </a:solidFill>
                <a:latin typeface="Calibri"/>
              </a:rPr>
              <a:t>Ray-traced renderers (V-Ray, Unreal, Chaos) are now standard for client-ready archviz walkthroughs.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2900000"/>
            <a:ext cx="3977640" cy="1500000"/>
          </a:xfrm>
          <a:prstGeom prst="roundRect">
            <a:avLst>
              <a:gd name="adj" fmla="val 45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73160" y="3050000"/>
            <a:ext cx="320000" cy="32000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1B3A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160" y="3050000"/>
            <a:ext cx="3219640" cy="3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06FB3"/>
                </a:solidFill>
                <a:latin typeface="Calibri"/>
              </a:rPr>
              <a:t>Medical Imaging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9160" y="3480000"/>
            <a:ext cx="361764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0B1B3A"/>
                </a:solidFill>
                <a:latin typeface="Calibri"/>
              </a:rPr>
              <a:t>"Cinematic Rendering" path-traces CT/MRI scan volumes.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89160" y="3840000"/>
            <a:ext cx="3617640" cy="420000"/>
          </a:xfrm>
          <a:prstGeom prst="roundRect">
            <a:avLst>
              <a:gd name="adj" fmla="val 18000"/>
            </a:avLst>
          </a:prstGeom>
          <a:solidFill>
            <a:srgbClr val="FFFDF6"/>
          </a:solidFill>
          <a:ln w="15875">
            <a:solidFill>
              <a:srgbClr val="00A8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69160" y="3840000"/>
            <a:ext cx="345764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7A7468"/>
                </a:solidFill>
                <a:latin typeface="Calibri"/>
              </a:rPr>
              <a:t>Used clinically for CT angiography and surgical planning with lifelike 3D anatomy.  — radiology literature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933C6-7358-5155-5755-56DA01C9C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1" y="0"/>
            <a:ext cx="91015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15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1752"/>
            <a:ext cx="701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B1B3A"/>
                </a:solidFill>
                <a:latin typeface="Calibri"/>
              </a:rPr>
              <a:t>Code Walkthrough: Core Math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4-Point Star 4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7A746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70000"/>
            <a:ext cx="4480560" cy="3550000"/>
          </a:xfrm>
          <a:prstGeom prst="roundRect">
            <a:avLst>
              <a:gd name="adj" fmla="val 3500"/>
            </a:avLst>
          </a:prstGeom>
          <a:solidFill>
            <a:srgbClr val="0B1B3A"/>
          </a:solidFill>
          <a:ln w="1905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200" y="1100000"/>
            <a:ext cx="4220560" cy="3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class Vector3 {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double x, y, z;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Vector3 sub(Vector3 v) {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    return new Vector3(x-v.x, y-v.y, z-v.z);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double dot(Vector3 v) {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    return x*v.x + y*v.y + z*v.z;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Vector3 normalize() {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    double len = Math.sqrt(dot(this));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    return len &gt; 0 ?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      new Vector3(x/len, y/len, z/len) : this;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850" i="1">
                <a:solidFill>
                  <a:srgbClr val="7FE38C"/>
                </a:solidFill>
                <a:latin typeface="Courier New"/>
              </a:rPr>
              <a:t>// Sphere-ray intersection (quadratic formula)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double intersect(Ray ray) {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Vector3 oc = ray.origin.sub(center);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double b = oc.dot(ray.direction);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double c = oc.dot(oc) - radius * radius;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double disc = b * b - c;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if (disc &lt; 0) return -1;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double t = -b - Math.sqrt(disc);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    return t &gt; 0.001 ? t : -b + Math.sqrt(disc);</a:t>
            </a:r>
          </a:p>
          <a:p>
            <a:pPr algn="l">
              <a:lnSpc>
                <a:spcPct val="100000"/>
              </a:lnSpc>
            </a:pPr>
            <a:r>
              <a:rPr sz="850" i="0">
                <a:solidFill>
                  <a:srgbClr val="EAF2E3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1960" y="10515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0A8A00"/>
                </a:solidFill>
                <a:latin typeface="Calibri"/>
              </a:rPr>
              <a:t>WHAT THIS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1960" y="1450000"/>
            <a:ext cx="347472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0B1B3A"/>
                </a:solidFill>
                <a:latin typeface="Calibri"/>
              </a:rPr>
              <a:t>•  Vector3 is the project's entire 3D math toolkit: every position, direction and RGB color is one of these.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1960" y="2100000"/>
            <a:ext cx="347472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0B1B3A"/>
                </a:solidFill>
                <a:latin typeface="Calibri"/>
              </a:rPr>
              <a:t>•  dot() and sub() implement the standard vector algebra used throughout the renderer.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1960" y="2750000"/>
            <a:ext cx="347472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0B1B3A"/>
                </a:solidFill>
                <a:latin typeface="Calibri"/>
              </a:rPr>
              <a:t>•  normalize() rescales a vector to unit length so lighting · reflection math stays correct.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1960" y="3400000"/>
            <a:ext cx="3474720" cy="6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 i="0">
                <a:solidFill>
                  <a:srgbClr val="0B1B3A"/>
                </a:solidFill>
                <a:latin typeface="Calibri"/>
              </a:rPr>
              <a:t>•  Sphere.intersect() solves |O + tD − C|² = r² for t — a textbook quadratic. A negative discriminant means the ray misses; otherwise the nearest positive root is the hit distance.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37768"/>
            <a:ext cx="70104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 dirty="0">
                <a:solidFill>
                  <a:srgbClr val="0B1B3A"/>
                </a:solidFill>
                <a:latin typeface="Calibri"/>
              </a:rPr>
              <a:t>Code Walkthrough: Ray Tracing </a:t>
            </a:r>
            <a:r>
              <a:rPr lang="en-US" sz="2800" b="1" dirty="0">
                <a:solidFill>
                  <a:srgbClr val="0B1B3A"/>
                </a:solidFill>
                <a:latin typeface="Calibri"/>
              </a:rPr>
              <a:t>Engine</a:t>
            </a:r>
            <a:endParaRPr sz="2800" b="1" i="0" dirty="0">
              <a:solidFill>
                <a:srgbClr val="0B1B3A"/>
              </a:solidFill>
              <a:latin typeface="Calibri"/>
            </a:endParaRPr>
          </a:p>
        </p:txBody>
      </p:sp>
      <p:sp>
        <p:nvSpPr>
          <p:cNvPr id="4" name="4-Point Star 3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4-Point Star 4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7A7468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70000"/>
            <a:ext cx="4480560" cy="3550000"/>
          </a:xfrm>
          <a:prstGeom prst="roundRect">
            <a:avLst>
              <a:gd name="adj" fmla="val 3500"/>
            </a:avLst>
          </a:prstGeom>
          <a:solidFill>
            <a:srgbClr val="0B1B3A"/>
          </a:solidFill>
          <a:ln w="1905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200" y="1100000"/>
            <a:ext cx="4220560" cy="3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static Vector3 trace(Ray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ray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, List&lt;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SceneObject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&gt;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objs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,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    Vector3 light, int depth, int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maxDepth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if (depth &gt;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maxDepth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) return new Vector3(0,0,0);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HitRecord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 hit =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findClosestHit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(ray,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objs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if (hit.obj == null) return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skyColor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(ray);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Vector3 p =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ray.origin.add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ray.direction.mult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(hit.t));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Vector3 n =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hit.obj.getNormal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(p);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Vector3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toLight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 =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light.sub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(p).normalize();</a:t>
            </a:r>
          </a:p>
          <a:p>
            <a:pPr algn="l">
              <a:lnSpc>
                <a:spcPct val="100000"/>
              </a:lnSpc>
            </a:pPr>
            <a:r>
              <a:rPr sz="850" i="1" dirty="0">
                <a:solidFill>
                  <a:srgbClr val="7FE38C"/>
                </a:solidFill>
                <a:latin typeface="Courier New"/>
              </a:rPr>
              <a:t>  // shadow ray toward the light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Ray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shadowRay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 = new Ray(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p.add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n.mult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(0.001)),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toLight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boolean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inShadow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 =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findClosestHit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shadowRay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, objs).obj != null;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double diffuse =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inShadow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 ? 0.2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    : 0.2 +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Math.max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(0, n.dot(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toLight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)) * 0.8;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Vector3 color =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baseColor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(hit).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mult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(diffuse);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if 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hit.obj.reflectivity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 &gt; 0) {          // reflection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  Vector3 r =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ray.direction.sub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     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n.mult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(2 * ray.direction.dot(n)));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  Vector3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refl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 = trace(new Ray(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p.add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n.mult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(0.001)), r),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     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objs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, light, depth+1,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maxDepth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  color = 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color.mult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(1-hit.obj.reflectivity)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      .add(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refl.mult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(</a:t>
            </a:r>
            <a:r>
              <a:rPr sz="850" i="0" dirty="0" err="1">
                <a:solidFill>
                  <a:srgbClr val="EAF2E3"/>
                </a:solidFill>
                <a:latin typeface="Courier New"/>
              </a:rPr>
              <a:t>hit.obj.reflectivity</a:t>
            </a:r>
            <a:r>
              <a:rPr sz="850" i="0" dirty="0">
                <a:solidFill>
                  <a:srgbClr val="EAF2E3"/>
                </a:solidFill>
                <a:latin typeface="Courier New"/>
              </a:rPr>
              <a:t>));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</a:pPr>
            <a:r>
              <a:rPr sz="850" i="1" dirty="0">
                <a:solidFill>
                  <a:srgbClr val="7FE38C"/>
                </a:solidFill>
                <a:latin typeface="Courier New"/>
              </a:rPr>
              <a:t>  // refraction follows the same pattern via Snell's law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  return color;</a:t>
            </a:r>
          </a:p>
          <a:p>
            <a:pPr algn="l">
              <a:lnSpc>
                <a:spcPct val="100000"/>
              </a:lnSpc>
            </a:pPr>
            <a:r>
              <a:rPr sz="850" i="0" dirty="0">
                <a:solidFill>
                  <a:srgbClr val="EAF2E3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1960" y="10515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006FB3"/>
                </a:solidFill>
                <a:latin typeface="Calibri"/>
              </a:rPr>
              <a:t>WHAT THIS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1960" y="1450000"/>
            <a:ext cx="347472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0B1B3A"/>
                </a:solidFill>
                <a:latin typeface="Calibri"/>
              </a:rPr>
              <a:t>•  trace() is the heart of the renderer — called once per pixel, then recursively for every bounce.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1960" y="2030000"/>
            <a:ext cx="347472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0B1B3A"/>
                </a:solidFill>
                <a:latin typeface="Calibri"/>
              </a:rPr>
              <a:t>•  depth / maxDepth caps the recursion (4 bounces) so reflections and refractions can't run forever.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1960" y="2610000"/>
            <a:ext cx="347472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0B1B3A"/>
                </a:solidFill>
                <a:latin typeface="Calibri"/>
              </a:rPr>
              <a:t>•  A shadow ray toward the light checks occlusion before adding Lambertian diffuse light.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1960" y="3190000"/>
            <a:ext cx="347472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0B1B3A"/>
                </a:solidFill>
                <a:latin typeface="Calibri"/>
              </a:rPr>
              <a:t>•  Reflective surfaces recurse with the mirrored direction R = D − 2(D·N)N, blending the bounced color in by the surface's reflectivity.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1960" y="3770000"/>
            <a:ext cx="347472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0B1B3A"/>
                </a:solidFill>
                <a:latin typeface="Calibri"/>
              </a:rPr>
              <a:t>•  Transparent surfaces do the same with a refracted ray — this is what produces the glass sphere's bending light.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01752"/>
            <a:ext cx="701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B1B3A"/>
                </a:solidFill>
                <a:latin typeface="Calibri"/>
              </a:rPr>
              <a:t>Sample Render Output</a:t>
            </a:r>
          </a:p>
        </p:txBody>
      </p:sp>
      <p:sp>
        <p:nvSpPr>
          <p:cNvPr id="4" name="4-Point Star 3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4-Point Star 4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7A7468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005840"/>
            <a:ext cx="5943600" cy="3291840"/>
          </a:xfrm>
          <a:prstGeom prst="roundRect">
            <a:avLst>
              <a:gd name="adj" fmla="val 2500"/>
            </a:avLst>
          </a:prstGeom>
          <a:solidFill>
            <a:srgbClr val="FFFDF6"/>
          </a:solidFill>
          <a:ln w="15875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ample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400" y="1065840"/>
            <a:ext cx="4531200" cy="317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4370000"/>
            <a:ext cx="59436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1">
                <a:solidFill>
                  <a:srgbClr val="7A7468"/>
                </a:solidFill>
                <a:latin typeface="Calibri"/>
              </a:rPr>
              <a:t>Rendered directly by the project's own trace() engine — sphere, cube, pyramid and a refractive glass sphere on a checkered floor, exported as a PNG.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htning Bolt 1"/>
          <p:cNvSpPr/>
          <p:nvPr/>
        </p:nvSpPr>
        <p:spPr>
          <a:xfrm>
            <a:off x="457200" y="347472"/>
            <a:ext cx="347472" cy="411480"/>
          </a:xfrm>
          <a:prstGeom prst="lightningBolt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4-Point Star 2"/>
          <p:cNvSpPr/>
          <p:nvPr/>
        </p:nvSpPr>
        <p:spPr>
          <a:xfrm>
            <a:off x="8001000" y="274320"/>
            <a:ext cx="365760" cy="365760"/>
          </a:xfrm>
          <a:prstGeom prst="star4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4-Point Star 3"/>
          <p:cNvSpPr/>
          <p:nvPr/>
        </p:nvSpPr>
        <p:spPr>
          <a:xfrm>
            <a:off x="8412480" y="548640"/>
            <a:ext cx="201168" cy="201168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7680960" y="566928"/>
            <a:ext cx="146304" cy="146304"/>
          </a:xfrm>
          <a:prstGeom prst="diamond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49640" y="4754880"/>
            <a:ext cx="128016" cy="128016"/>
          </a:xfrm>
          <a:prstGeom prst="ellipse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4-Point Star 6"/>
          <p:cNvSpPr/>
          <p:nvPr/>
        </p:nvSpPr>
        <p:spPr>
          <a:xfrm>
            <a:off x="548640" y="4480560"/>
            <a:ext cx="146304" cy="146304"/>
          </a:xfrm>
          <a:prstGeom prst="star4">
            <a:avLst/>
          </a:prstGeom>
          <a:solidFill>
            <a:srgbClr val="00A8E8"/>
          </a:solidFill>
          <a:ln w="12700">
            <a:solidFill>
              <a:srgbClr val="00A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iamond 7"/>
          <p:cNvSpPr/>
          <p:nvPr/>
        </p:nvSpPr>
        <p:spPr>
          <a:xfrm>
            <a:off x="548640" y="1554480"/>
            <a:ext cx="146304" cy="146304"/>
          </a:xfrm>
          <a:prstGeom prst="diamond">
            <a:avLst/>
          </a:prstGeom>
          <a:solidFill>
            <a:srgbClr val="22D100"/>
          </a:solidFill>
          <a:ln w="12700">
            <a:solidFill>
              <a:srgbClr val="22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0B1B3A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0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006FB3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7A7468"/>
                </a:solidFill>
                <a:latin typeface="Calibri"/>
              </a:rPr>
              <a:t>Interactive Ray Tracing Engine ·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1529</Words>
  <Application>Microsoft Office PowerPoint</Application>
  <PresentationFormat>On-screen Show (16:9)</PresentationFormat>
  <Paragraphs>161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vamshi tarun</cp:lastModifiedBy>
  <cp:revision>3</cp:revision>
  <dcterms:created xsi:type="dcterms:W3CDTF">2013-01-27T09:14:16Z</dcterms:created>
  <dcterms:modified xsi:type="dcterms:W3CDTF">2026-10-14T05:36:33Z</dcterms:modified>
  <cp:category/>
</cp:coreProperties>
</file>